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image" Target="../media/image-7-35.png"/><Relationship Id="rId36" Type="http://schemas.openxmlformats.org/officeDocument/2006/relationships/image" Target="../media/image-7-36.png"/><Relationship Id="rId37" Type="http://schemas.openxmlformats.org/officeDocument/2006/relationships/image" Target="../media/image-7-37.png"/><Relationship Id="rId38" Type="http://schemas.openxmlformats.org/officeDocument/2006/relationships/image" Target="../media/image-7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0" y="3114675"/>
            <a:ext cx="952500" cy="571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1175" y="4505325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63627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50" y="6362700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7450" y="6362700"/>
            <a:ext cx="114300" cy="1143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762375" y="2162175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보안실</a:t>
            </a:r>
            <a:endParaRPr lang="en-US" sz="1200" dirty="0"/>
          </a:p>
        </p:txBody>
      </p:sp>
      <p:sp>
        <p:nvSpPr>
          <p:cNvPr id="12" name="Text 1"/>
          <p:cNvSpPr/>
          <p:nvPr/>
        </p:nvSpPr>
        <p:spPr>
          <a:xfrm>
            <a:off x="3295650" y="2466975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사업계획 실행전략</a:t>
            </a:r>
            <a:endParaRPr lang="en-US" sz="3600" dirty="0"/>
          </a:p>
        </p:txBody>
      </p:sp>
      <p:sp>
        <p:nvSpPr>
          <p:cNvPr id="13" name="Text 2"/>
          <p:cNvSpPr/>
          <p:nvPr/>
        </p:nvSpPr>
        <p:spPr>
          <a:xfrm>
            <a:off x="3295650" y="3400425"/>
            <a:ext cx="560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안정화 · 조직 강화 · 기술 기반 고도화</a:t>
            </a:r>
            <a:endParaRPr lang="en-US" sz="1800" dirty="0"/>
          </a:p>
        </p:txBody>
      </p:sp>
      <p:sp>
        <p:nvSpPr>
          <p:cNvPr id="14" name="Text 3"/>
          <p:cNvSpPr/>
          <p:nvPr/>
        </p:nvSpPr>
        <p:spPr>
          <a:xfrm>
            <a:off x="5720715" y="4467225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2025-11-18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00200"/>
            <a:ext cx="5295900" cy="17430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288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19621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1600200"/>
            <a:ext cx="5295900" cy="17430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18288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2263" y="1962150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724275"/>
            <a:ext cx="5295900" cy="17430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3952875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650" y="4086225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3724275"/>
            <a:ext cx="5295900" cy="17430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3952875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86550" y="4086225"/>
            <a:ext cx="22860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(Overview)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838200" y="2543175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성과 리뷰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838200" y="2886075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보안실이 2025년에 달성한 성과와 도전 과제에 대한 리뷰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6515100" y="2543175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환경 진단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6515100" y="2886075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변동, 선임 역할 공백, 업무 매뉴얼 미비 문제 진단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838200" y="466725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사업 계획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838200" y="501015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개발, 인프라, 보안, 조직 운영 4가지 방향의 사업 계획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6515100" y="466725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실행 방안 &amp; 기대 효과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6515100" y="501015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전략, 운영 계획, 조직 관리 방안과 기대되는 효과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11344275" y="6324600"/>
            <a:ext cx="377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2/10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00050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00200"/>
            <a:ext cx="5334000" cy="12668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28800"/>
            <a:ext cx="559743" cy="666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122" y="1990725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600200"/>
            <a:ext cx="5334000" cy="12668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1828800"/>
            <a:ext cx="382339" cy="666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8558" y="1990725"/>
            <a:ext cx="219075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171825"/>
            <a:ext cx="5334000" cy="12668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3400425"/>
            <a:ext cx="451842" cy="666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296" y="3562350"/>
            <a:ext cx="247650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3171825"/>
            <a:ext cx="5334000" cy="12668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3400425"/>
            <a:ext cx="497086" cy="666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2668" y="3562350"/>
            <a:ext cx="285750" cy="342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82400" y="6362700"/>
            <a:ext cx="15240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성과 리뷰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1588443" y="1828800"/>
            <a:ext cx="4126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공백 없는 조직 안정화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588443" y="2171700"/>
            <a:ext cx="41265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변화와 인력 이탈에도 불구하고 서비스 운영의 안정성을 유지했습니다.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7049839" y="1828800"/>
            <a:ext cx="43039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ISMS 사후심사 대응 완료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7049839" y="2171700"/>
            <a:ext cx="43039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사고 없이 ISMS 사후심사를 성공적으로 마무리했습니다. 결함 조치 사항을 정리하고 최종 보고까지 완결했습니다.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1480542" y="3400425"/>
            <a:ext cx="42344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인프라·보안·개발 업무 병행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1480542" y="3743325"/>
            <a:ext cx="4234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서비스 개발 및 운영 업무와 신규 보안 업무를 동시에 수행하며 다각적인 역량을 발휘했습니다.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7164586" y="3400425"/>
            <a:ext cx="50270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 전환 대비 사전 조사/영향분석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7164586" y="3743325"/>
            <a:ext cx="418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예정된 인프라 OS 전환에 대비하여 사전 조사 및 영향 분석을 미리 수행했습니다.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11191875" y="6324600"/>
            <a:ext cx="377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3/10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71700"/>
            <a:ext cx="5372100" cy="1181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362200"/>
            <a:ext cx="314771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36" y="2447925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2171700"/>
            <a:ext cx="5372100" cy="1181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362200"/>
            <a:ext cx="294531" cy="476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7979" y="2447925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581400"/>
            <a:ext cx="5372100" cy="1181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3771900"/>
            <a:ext cx="35436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480" y="3857625"/>
            <a:ext cx="17145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581400"/>
            <a:ext cx="5372100" cy="1181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771900"/>
            <a:ext cx="314771" cy="4762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5067300"/>
            <a:ext cx="10972800" cy="533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5267325"/>
            <a:ext cx="11430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환경 진단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609600" y="16002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보안실은 다음과 같은 조직 환경적 어려움에 직면했습니다.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1257746" y="2362200"/>
            <a:ext cx="45334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급격한 인력 변동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257746" y="2705100"/>
            <a:ext cx="4533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보안실 발령 직후 세 명의 퇴사자가 연달아 발생하여 기존 역할 구조가 무너지고 운영 난이도가 증가했습니다.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6838206" y="2362200"/>
            <a:ext cx="45536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 역할 공백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6838206" y="2705100"/>
            <a:ext cx="4553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인력의 업무 스타일과 역량 파악이 충분히 이루어지지 못했으며, 기존 선임 역할에 대한 대체 인력이 없었습니다.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1297335" y="3771900"/>
            <a:ext cx="4493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매뉴얼·R&amp;R 미비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1297335" y="4114800"/>
            <a:ext cx="44938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R&amp;R이나 체계적인 업무 매뉴얼이 부재하여, 업무 혼란과 역할 불분명성이 발생했습니다.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6858446" y="3771900"/>
            <a:ext cx="45334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안정성 저하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6858446" y="4114800"/>
            <a:ext cx="4533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개발 중심의 역할에서 조직 관리 및 선임 역할까지 확장되면서 관리에 다소 미흡한 부분이 발생했습니다.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952500" y="5219700"/>
            <a:ext cx="1066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이러한 경험을 통해 기술 역량뿐만 아니라 조직 운영 능력의 중요성을 깊이 인식하게 되었습니다.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11344275" y="6324600"/>
            <a:ext cx="377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050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00200"/>
            <a:ext cx="2647950" cy="2667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1828800"/>
            <a:ext cx="666750" cy="6667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1990725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05752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40042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74332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3750" y="1600200"/>
            <a:ext cx="2647950" cy="2667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24350" y="1828800"/>
            <a:ext cx="666750" cy="6667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4850" y="1990725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2350" y="305752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62350" y="340042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62350" y="374332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1600200"/>
            <a:ext cx="2647950" cy="2667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00900" y="1828800"/>
            <a:ext cx="666750" cy="6667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91400" y="1990725"/>
            <a:ext cx="285750" cy="3429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3057525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340042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3743325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86850" y="1600200"/>
            <a:ext cx="2647950" cy="26670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77450" y="1828800"/>
            <a:ext cx="666750" cy="6667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29850" y="1990725"/>
            <a:ext cx="361950" cy="3429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15450" y="3057525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15450" y="3400425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15450" y="3743325"/>
            <a:ext cx="1524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사업 계획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685800" y="2638425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500" dirty="0"/>
          </a:p>
        </p:txBody>
      </p:sp>
      <p:sp>
        <p:nvSpPr>
          <p:cNvPr id="32" name="Text 2"/>
          <p:cNvSpPr/>
          <p:nvPr/>
        </p:nvSpPr>
        <p:spPr>
          <a:xfrm>
            <a:off x="914400" y="3019425"/>
            <a:ext cx="1634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전자결재 시스템 개발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914400" y="3362325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서비스 최적화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914400" y="3705225"/>
            <a:ext cx="1680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업무 효율성 증진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3562350" y="2638425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</a:t>
            </a:r>
            <a:endParaRPr lang="en-US" sz="1500" dirty="0"/>
          </a:p>
        </p:txBody>
      </p:sp>
      <p:sp>
        <p:nvSpPr>
          <p:cNvPr id="36" name="Text 6"/>
          <p:cNvSpPr/>
          <p:nvPr/>
        </p:nvSpPr>
        <p:spPr>
          <a:xfrm>
            <a:off x="3790950" y="3019425"/>
            <a:ext cx="2308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 전면 전환 (CENTOS EOS)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3790950" y="3362325"/>
            <a:ext cx="1120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노후 자산 교체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3790950" y="3705225"/>
            <a:ext cx="1962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취약점 제거 및 시스템 안정화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6438900" y="2638425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</a:t>
            </a:r>
            <a:endParaRPr lang="en-US" sz="1500" dirty="0"/>
          </a:p>
        </p:txBody>
      </p:sp>
      <p:sp>
        <p:nvSpPr>
          <p:cNvPr id="40" name="Text 10"/>
          <p:cNvSpPr/>
          <p:nvPr/>
        </p:nvSpPr>
        <p:spPr>
          <a:xfrm>
            <a:off x="6667500" y="301942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ISMS 사후관리 체계 강화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6667500" y="3362325"/>
            <a:ext cx="1291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정책·로그 자동화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6667500" y="3705225"/>
            <a:ext cx="1680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대응 효율 극대화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9315450" y="2638425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</a:t>
            </a:r>
            <a:endParaRPr lang="en-US" sz="1500" dirty="0"/>
          </a:p>
        </p:txBody>
      </p:sp>
      <p:sp>
        <p:nvSpPr>
          <p:cNvPr id="44" name="Text 14"/>
          <p:cNvSpPr/>
          <p:nvPr/>
        </p:nvSpPr>
        <p:spPr>
          <a:xfrm>
            <a:off x="9544050" y="3019425"/>
            <a:ext cx="1120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 평가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9544050" y="3362325"/>
            <a:ext cx="1131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R&amp;R 체계 정립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9544050" y="3705225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매뉴얼 체계화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11344275" y="6324600"/>
            <a:ext cx="377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5/10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00200"/>
            <a:ext cx="5334000" cy="19907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28800"/>
            <a:ext cx="285750" cy="666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990725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600200"/>
            <a:ext cx="5334000" cy="19907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1828800"/>
            <a:ext cx="361950" cy="666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990725"/>
            <a:ext cx="36195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895725"/>
            <a:ext cx="5334000" cy="19907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4124325"/>
            <a:ext cx="289024" cy="666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8887" y="4286250"/>
            <a:ext cx="247650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3895725"/>
            <a:ext cx="5334000" cy="19907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124325"/>
            <a:ext cx="361950" cy="666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4286250"/>
            <a:ext cx="361950" cy="3429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사업 전략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1276350" y="1828800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리스크 제거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276350" y="2171700"/>
            <a:ext cx="4438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인프라의 EOS(End-Of-Support) 문제를 해결하여 잠재적인 시스템 장애 및 보안 취약점 발생 가능성을 원천적으로 차단합니다. 안정적인 서비스 운영의 필수적인 기반이 됩니다.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6991350" y="1828800"/>
            <a:ext cx="436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자동화·표준화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6991350" y="2171700"/>
            <a:ext cx="436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운영 프로세스를 정책 및 로그 중심으로 표준화하고 자동화하여, 반복적인 수동 작업을 최소화하고 위협 대응 효율성을 극대화합니다.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1279624" y="4124325"/>
            <a:ext cx="44353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개발–운영 일체화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1279624" y="4467225"/>
            <a:ext cx="443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전자결재 시스템 개발과 같은 내부 개발 프로젝트를 통해 개발과 운영이 유기적으로 연동되는 체계를 구축하여, 업무 효율성을 높이고 서비스 품질을 향상시킵니다.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6991350" y="4124325"/>
            <a:ext cx="436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안정성 확보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6991350" y="4467225"/>
            <a:ext cx="436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2025년의 경험을 바탕으로 조직 운영 체계을 정비하고 구성원 간의 역할을 명확히 하여, 안정적이고 효율적인 조직 환경을 조성합니다.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11344275" y="6324600"/>
            <a:ext cx="377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6/10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00050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47825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362200"/>
            <a:ext cx="109728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22860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628900"/>
            <a:ext cx="2324100" cy="1485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3162300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339090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" y="361950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6300" y="22860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9500" y="2628900"/>
            <a:ext cx="2324100" cy="1295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1900" y="3162300"/>
            <a:ext cx="171450" cy="1333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1900" y="33909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1900" y="361950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0" y="2286000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2628900"/>
            <a:ext cx="2324100" cy="1295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162300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3390900"/>
            <a:ext cx="114300" cy="1333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361950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44100" y="2286000"/>
            <a:ext cx="190500" cy="1905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77300" y="2628900"/>
            <a:ext cx="2324100" cy="1295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29700" y="3162300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29700" y="3390900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29700" y="3619500"/>
            <a:ext cx="114300" cy="1333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4495800"/>
            <a:ext cx="5334000" cy="17907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8200" y="472440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2500" y="48387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8200" y="5257800"/>
            <a:ext cx="76200" cy="1524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8200" y="5562600"/>
            <a:ext cx="76200" cy="1524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8200" y="5867400"/>
            <a:ext cx="76200" cy="1524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248400" y="4495800"/>
            <a:ext cx="5334000" cy="17907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77000" y="4724400"/>
            <a:ext cx="381000" cy="3810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572250" y="4838700"/>
            <a:ext cx="190500" cy="15240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77000" y="5257800"/>
            <a:ext cx="76200" cy="1524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477000" y="5562600"/>
            <a:ext cx="76200" cy="15240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77000" y="5867400"/>
            <a:ext cx="76200" cy="15240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620500" y="6362700"/>
            <a:ext cx="114300" cy="15240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계획</a:t>
            </a:r>
            <a:endParaRPr lang="en-US" sz="2700" dirty="0"/>
          </a:p>
        </p:txBody>
      </p:sp>
      <p:sp>
        <p:nvSpPr>
          <p:cNvPr id="41" name="Text 1"/>
          <p:cNvSpPr/>
          <p:nvPr/>
        </p:nvSpPr>
        <p:spPr>
          <a:xfrm>
            <a:off x="885825" y="1600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분기별 OS 전환 로드맵</a:t>
            </a:r>
            <a:endParaRPr lang="en-US" sz="1800" dirty="0"/>
          </a:p>
        </p:txBody>
      </p:sp>
      <p:sp>
        <p:nvSpPr>
          <p:cNvPr id="42" name="Text 2"/>
          <p:cNvSpPr/>
          <p:nvPr/>
        </p:nvSpPr>
        <p:spPr>
          <a:xfrm>
            <a:off x="1143000" y="278130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1분기</a:t>
            </a:r>
            <a:endParaRPr lang="en-US" sz="1350" dirty="0"/>
          </a:p>
        </p:txBody>
      </p:sp>
      <p:sp>
        <p:nvSpPr>
          <p:cNvPr id="43" name="Text 3"/>
          <p:cNvSpPr/>
          <p:nvPr/>
        </p:nvSpPr>
        <p:spPr>
          <a:xfrm>
            <a:off x="1123950" y="3124200"/>
            <a:ext cx="26517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OS 전환 대상 시스템 정리</a:t>
            </a:r>
            <a:endParaRPr lang="en-US" sz="1050" dirty="0"/>
          </a:p>
        </p:txBody>
      </p:sp>
      <p:sp>
        <p:nvSpPr>
          <p:cNvPr id="44" name="Text 4"/>
          <p:cNvSpPr/>
          <p:nvPr/>
        </p:nvSpPr>
        <p:spPr>
          <a:xfrm>
            <a:off x="1123950" y="33528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영향 분석 완료</a:t>
            </a:r>
            <a:endParaRPr lang="en-US" sz="1050" dirty="0"/>
          </a:p>
        </p:txBody>
      </p:sp>
      <p:sp>
        <p:nvSpPr>
          <p:cNvPr id="45" name="Text 5"/>
          <p:cNvSpPr/>
          <p:nvPr/>
        </p:nvSpPr>
        <p:spPr>
          <a:xfrm>
            <a:off x="1123950" y="3581400"/>
            <a:ext cx="2209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전환 계획 확정 및 비상 계획 수립</a:t>
            </a:r>
            <a:endParaRPr lang="en-US" sz="1050" dirty="0"/>
          </a:p>
        </p:txBody>
      </p:sp>
      <p:sp>
        <p:nvSpPr>
          <p:cNvPr id="46" name="Text 6"/>
          <p:cNvSpPr/>
          <p:nvPr/>
        </p:nvSpPr>
        <p:spPr>
          <a:xfrm>
            <a:off x="3771900" y="278130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2~3분기</a:t>
            </a:r>
            <a:endParaRPr lang="en-US" sz="1350" dirty="0"/>
          </a:p>
        </p:txBody>
      </p:sp>
      <p:sp>
        <p:nvSpPr>
          <p:cNvPr id="47" name="Text 7"/>
          <p:cNvSpPr/>
          <p:nvPr/>
        </p:nvSpPr>
        <p:spPr>
          <a:xfrm>
            <a:off x="3790950" y="3124200"/>
            <a:ext cx="26517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OS 전환 작업 진행</a:t>
            </a:r>
            <a:endParaRPr lang="en-US" sz="1050" dirty="0"/>
          </a:p>
        </p:txBody>
      </p:sp>
      <p:sp>
        <p:nvSpPr>
          <p:cNvPr id="48" name="Text 8"/>
          <p:cNvSpPr/>
          <p:nvPr/>
        </p:nvSpPr>
        <p:spPr>
          <a:xfrm>
            <a:off x="3752850" y="33528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테스트 및 검증</a:t>
            </a:r>
            <a:endParaRPr lang="en-US" sz="1050" dirty="0"/>
          </a:p>
        </p:txBody>
      </p:sp>
      <p:sp>
        <p:nvSpPr>
          <p:cNvPr id="49" name="Text 9"/>
          <p:cNvSpPr/>
          <p:nvPr/>
        </p:nvSpPr>
        <p:spPr>
          <a:xfrm>
            <a:off x="3752850" y="3581400"/>
            <a:ext cx="26517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자동화 시스템 구축 및 연동</a:t>
            </a:r>
            <a:endParaRPr lang="en-US" sz="1050" dirty="0"/>
          </a:p>
        </p:txBody>
      </p:sp>
      <p:sp>
        <p:nvSpPr>
          <p:cNvPr id="50" name="Text 10"/>
          <p:cNvSpPr/>
          <p:nvPr/>
        </p:nvSpPr>
        <p:spPr>
          <a:xfrm>
            <a:off x="6400800" y="278130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4분기</a:t>
            </a:r>
            <a:endParaRPr lang="en-US" sz="1350" dirty="0"/>
          </a:p>
        </p:txBody>
      </p:sp>
      <p:sp>
        <p:nvSpPr>
          <p:cNvPr id="51" name="Text 11"/>
          <p:cNvSpPr/>
          <p:nvPr/>
        </p:nvSpPr>
        <p:spPr>
          <a:xfrm>
            <a:off x="6381750" y="31242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OS 전환 후 안정화</a:t>
            </a:r>
            <a:endParaRPr lang="en-US" sz="1050" dirty="0"/>
          </a:p>
        </p:txBody>
      </p:sp>
      <p:sp>
        <p:nvSpPr>
          <p:cNvPr id="52" name="Text 12"/>
          <p:cNvSpPr/>
          <p:nvPr/>
        </p:nvSpPr>
        <p:spPr>
          <a:xfrm>
            <a:off x="6362700" y="3352800"/>
            <a:ext cx="26517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 기준 문서화 및 교육</a:t>
            </a:r>
            <a:endParaRPr lang="en-US" sz="1050" dirty="0"/>
          </a:p>
        </p:txBody>
      </p:sp>
      <p:sp>
        <p:nvSpPr>
          <p:cNvPr id="53" name="Text 13"/>
          <p:cNvSpPr/>
          <p:nvPr/>
        </p:nvSpPr>
        <p:spPr>
          <a:xfrm>
            <a:off x="6381750" y="35814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사후 위험 요소 관리</a:t>
            </a:r>
            <a:endParaRPr lang="en-US" sz="1050" dirty="0"/>
          </a:p>
        </p:txBody>
      </p:sp>
      <p:sp>
        <p:nvSpPr>
          <p:cNvPr id="54" name="Text 14"/>
          <p:cNvSpPr/>
          <p:nvPr/>
        </p:nvSpPr>
        <p:spPr>
          <a:xfrm>
            <a:off x="9029700" y="278130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성과</a:t>
            </a:r>
            <a:endParaRPr lang="en-US" sz="1350" dirty="0"/>
          </a:p>
        </p:txBody>
      </p:sp>
      <p:sp>
        <p:nvSpPr>
          <p:cNvPr id="55" name="Text 15"/>
          <p:cNvSpPr/>
          <p:nvPr/>
        </p:nvSpPr>
        <p:spPr>
          <a:xfrm>
            <a:off x="9010650" y="31242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EOS 리스크 제거</a:t>
            </a:r>
            <a:endParaRPr lang="en-US" sz="1050" dirty="0"/>
          </a:p>
        </p:txBody>
      </p:sp>
      <p:sp>
        <p:nvSpPr>
          <p:cNvPr id="56" name="Text 16"/>
          <p:cNvSpPr/>
          <p:nvPr/>
        </p:nvSpPr>
        <p:spPr>
          <a:xfrm>
            <a:off x="9010650" y="33528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시스템 성능 향상</a:t>
            </a:r>
            <a:endParaRPr lang="en-US" sz="1050" dirty="0"/>
          </a:p>
        </p:txBody>
      </p:sp>
      <p:sp>
        <p:nvSpPr>
          <p:cNvPr id="57" name="Text 17"/>
          <p:cNvSpPr/>
          <p:nvPr/>
        </p:nvSpPr>
        <p:spPr>
          <a:xfrm>
            <a:off x="8991600" y="35814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보안 취약점 대응</a:t>
            </a:r>
            <a:endParaRPr lang="en-US" sz="1050" dirty="0"/>
          </a:p>
        </p:txBody>
      </p:sp>
      <p:sp>
        <p:nvSpPr>
          <p:cNvPr id="58" name="Text 18"/>
          <p:cNvSpPr/>
          <p:nvPr/>
        </p:nvSpPr>
        <p:spPr>
          <a:xfrm>
            <a:off x="1333500" y="478155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ISMS 자동화 확대</a:t>
            </a:r>
            <a:endParaRPr lang="en-US" sz="1500" dirty="0"/>
          </a:p>
        </p:txBody>
      </p:sp>
      <p:sp>
        <p:nvSpPr>
          <p:cNvPr id="59" name="Text 19"/>
          <p:cNvSpPr/>
          <p:nvPr/>
        </p:nvSpPr>
        <p:spPr>
          <a:xfrm>
            <a:off x="990600" y="52197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ISMS 주요 지표 관리 및 모니터링 자동화 범위 확대</a:t>
            </a:r>
            <a:endParaRPr lang="en-US" sz="1200" dirty="0"/>
          </a:p>
        </p:txBody>
      </p:sp>
      <p:sp>
        <p:nvSpPr>
          <p:cNvPr id="60" name="Text 20"/>
          <p:cNvSpPr/>
          <p:nvPr/>
        </p:nvSpPr>
        <p:spPr>
          <a:xfrm>
            <a:off x="990600" y="5524500"/>
            <a:ext cx="2411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시스템 안정화 및 고도화</a:t>
            </a:r>
            <a:endParaRPr lang="en-US" sz="1200" dirty="0"/>
          </a:p>
        </p:txBody>
      </p:sp>
      <p:sp>
        <p:nvSpPr>
          <p:cNvPr id="61" name="Text 21"/>
          <p:cNvSpPr/>
          <p:nvPr/>
        </p:nvSpPr>
        <p:spPr>
          <a:xfrm>
            <a:off x="990600" y="5829300"/>
            <a:ext cx="3360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반복적인 보안 점검 작업 자동화로 효율 증대</a:t>
            </a:r>
            <a:endParaRPr lang="en-US" sz="1200" dirty="0"/>
          </a:p>
        </p:txBody>
      </p:sp>
      <p:sp>
        <p:nvSpPr>
          <p:cNvPr id="62" name="Text 22"/>
          <p:cNvSpPr/>
          <p:nvPr/>
        </p:nvSpPr>
        <p:spPr>
          <a:xfrm>
            <a:off x="6972300" y="4781550"/>
            <a:ext cx="15887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개발·운영 자동화</a:t>
            </a:r>
            <a:endParaRPr lang="en-US" sz="1500" dirty="0"/>
          </a:p>
        </p:txBody>
      </p:sp>
      <p:sp>
        <p:nvSpPr>
          <p:cNvPr id="63" name="Text 23"/>
          <p:cNvSpPr/>
          <p:nvPr/>
        </p:nvSpPr>
        <p:spPr>
          <a:xfrm>
            <a:off x="6629400" y="5219700"/>
            <a:ext cx="3360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전자결재 시스템 중심 자동화 가능 업무 발굴</a:t>
            </a:r>
            <a:endParaRPr lang="en-US" sz="1200" dirty="0"/>
          </a:p>
        </p:txBody>
      </p:sp>
      <p:sp>
        <p:nvSpPr>
          <p:cNvPr id="64" name="Text 24"/>
          <p:cNvSpPr/>
          <p:nvPr/>
        </p:nvSpPr>
        <p:spPr>
          <a:xfrm>
            <a:off x="6629400" y="5524500"/>
            <a:ext cx="3211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개발-운영 일체화를 통한 업무 효율성 향상</a:t>
            </a:r>
            <a:endParaRPr lang="en-US" sz="1200" dirty="0"/>
          </a:p>
        </p:txBody>
      </p:sp>
      <p:sp>
        <p:nvSpPr>
          <p:cNvPr id="65" name="Text 25"/>
          <p:cNvSpPr/>
          <p:nvPr/>
        </p:nvSpPr>
        <p:spPr>
          <a:xfrm>
            <a:off x="6629400" y="582930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예방 및 대응 체계 자동화로 안정성 확보</a:t>
            </a:r>
            <a:endParaRPr lang="en-US" sz="1200" dirty="0"/>
          </a:p>
        </p:txBody>
      </p:sp>
      <p:sp>
        <p:nvSpPr>
          <p:cNvPr id="66" name="Text 26"/>
          <p:cNvSpPr/>
          <p:nvPr/>
        </p:nvSpPr>
        <p:spPr>
          <a:xfrm>
            <a:off x="11229975" y="6324600"/>
            <a:ext cx="377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866900"/>
            <a:ext cx="5334000" cy="1562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095500"/>
            <a:ext cx="666750" cy="666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257425"/>
            <a:ext cx="361950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866900"/>
            <a:ext cx="5334000" cy="1562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2095500"/>
            <a:ext cx="666750" cy="666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450" y="2257425"/>
            <a:ext cx="32385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733800"/>
            <a:ext cx="5334000" cy="1562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3962400"/>
            <a:ext cx="666750" cy="666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038" y="4124325"/>
            <a:ext cx="219075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3733800"/>
            <a:ext cx="5334000" cy="1562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3962400"/>
            <a:ext cx="666750" cy="666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86550" y="4124325"/>
            <a:ext cx="247650" cy="3429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및 리스크 관리 방안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457200" y="1143000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경험한 인력 변동과 조직 리스크를 최소화하기 위한 전략</a:t>
            </a:r>
            <a:endParaRPr lang="en-US" sz="1350" dirty="0"/>
          </a:p>
        </p:txBody>
      </p:sp>
      <p:sp>
        <p:nvSpPr>
          <p:cNvPr id="19" name="Text 2"/>
          <p:cNvSpPr/>
          <p:nvPr/>
        </p:nvSpPr>
        <p:spPr>
          <a:xfrm>
            <a:off x="1657350" y="2095500"/>
            <a:ext cx="270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 역량 파악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1657350" y="24384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채용 시 역량 분석을 통한 적재적소 배치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657350" y="27051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개인의 업무 스타일과 성향 파악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1657350" y="29718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팀원과의 역할 중복 최소화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7296150" y="2095500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R&amp;R 확립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7296150" y="2438400"/>
            <a:ext cx="2640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단위 R&amp;R 점검 및 업데이트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7296150" y="2705100"/>
            <a:ext cx="2640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업무 분담과 책임 구조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7296150" y="2971800"/>
            <a:ext cx="2640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혼란 방지를 위한 클리어화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1657350" y="396240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문서화·체계화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1657350" y="4305300"/>
            <a:ext cx="2903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절차, 장애 대응 매뉴얼 체계화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1657350" y="45720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운영 기준 문서화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1657350" y="4838700"/>
            <a:ext cx="2903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담당자 의존성 제거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7296150" y="3962400"/>
            <a:ext cx="3514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 역할 강화</a:t>
            </a:r>
            <a:endParaRPr lang="en-US" sz="1500" dirty="0"/>
          </a:p>
        </p:txBody>
      </p:sp>
      <p:sp>
        <p:nvSpPr>
          <p:cNvPr id="32" name="Text 15"/>
          <p:cNvSpPr/>
          <p:nvPr/>
        </p:nvSpPr>
        <p:spPr>
          <a:xfrm>
            <a:off x="7296150" y="4305300"/>
            <a:ext cx="3514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선임자 관리 역량 강화 교육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7296150" y="4572000"/>
            <a:ext cx="3514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역량 외 리더십 역할 수행</a:t>
            </a:r>
            <a:endParaRPr lang="en-US" sz="1200" dirty="0"/>
          </a:p>
        </p:txBody>
      </p:sp>
      <p:sp>
        <p:nvSpPr>
          <p:cNvPr id="34" name="Text 17"/>
          <p:cNvSpPr/>
          <p:nvPr/>
        </p:nvSpPr>
        <p:spPr>
          <a:xfrm>
            <a:off x="7296150" y="4838700"/>
            <a:ext cx="4217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경험한 교훈을 바탕으로 한 조직 안정성 확보</a:t>
            </a:r>
            <a:endParaRPr lang="en-US" sz="1200" dirty="0"/>
          </a:p>
        </p:txBody>
      </p:sp>
      <p:sp>
        <p:nvSpPr>
          <p:cNvPr id="35" name="Text 18"/>
          <p:cNvSpPr/>
          <p:nvPr/>
        </p:nvSpPr>
        <p:spPr>
          <a:xfrm>
            <a:off x="11344275" y="6324600"/>
            <a:ext cx="377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00050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47650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600200"/>
            <a:ext cx="5334000" cy="1714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828800"/>
            <a:ext cx="666750" cy="6667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1990725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600200"/>
            <a:ext cx="5334000" cy="1714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828800"/>
            <a:ext cx="666750" cy="6667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8450" y="1990725"/>
            <a:ext cx="3238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619500"/>
            <a:ext cx="5334000" cy="1485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3848100"/>
            <a:ext cx="666750" cy="6667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7750" y="4010025"/>
            <a:ext cx="24765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619500"/>
            <a:ext cx="5334000" cy="1485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3848100"/>
            <a:ext cx="666750" cy="6667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48450" y="4010025"/>
            <a:ext cx="323850" cy="342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82400" y="6362700"/>
            <a:ext cx="1524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695450" y="1828800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강화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695450" y="2171700"/>
            <a:ext cx="4019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인프라와 보안 시스템 전반의 안정성을 획기적으로 강화합니다. OS 전환을 통해 잠재적 장애 리스크를 제거하고, 자동화된 운영 프로세스 도입으로 인해 반복적인 작업 감소와 사고 대응 시간 단축을 이끌 것입니다.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7334250" y="1828800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효율 향상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7334250" y="2171700"/>
            <a:ext cx="4019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자동화를 통해 업무 효율성이 크게 향상될 것이며, 정책과 로그 중심의 표준화된 보안 운영을 통해 인력의 핵심 업무 집중도를 높일 수 있습니다. 이는 궁극적으로 보안실 전체의 생산성을 증대시키겠습니다.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695450" y="3848100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신뢰도 증가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1695450" y="4191000"/>
            <a:ext cx="4019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조직 관리 시스템이 정착됨으로써 구성원 간 협업이 원활해지고, ISMS 사후관리 체계 강화로 인해 고객 및 이해관계자로부터의 보안 신뢰도를 향상시키겠습니다.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7334250" y="3848100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경쟁력 강화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7334250" y="4191000"/>
            <a:ext cx="4019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최종적으로 이러한 변화는 회사의 서비스 경쟁력을 높이고, 보안실 운영의 일관성과 신뢰성을 제고함으로써 기업 전반의 보안 역량을 강화하는 데 기여할 것입니다.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11191875" y="6324600"/>
            <a:ext cx="377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9/10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050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76250"/>
            <a:ext cx="2857500" cy="2857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524250"/>
            <a:ext cx="2857500" cy="2857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600200"/>
            <a:ext cx="10972800" cy="1181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1905000"/>
            <a:ext cx="381000" cy="533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2019300"/>
            <a:ext cx="15240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009900"/>
            <a:ext cx="5372100" cy="1409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238500"/>
            <a:ext cx="28575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3362325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3009900"/>
            <a:ext cx="5372100" cy="1409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3238500"/>
            <a:ext cx="342900" cy="381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3362325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648200"/>
            <a:ext cx="5372100" cy="1409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" y="4876800"/>
            <a:ext cx="266700" cy="3810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" y="5000625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4648200"/>
            <a:ext cx="5372100" cy="14097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4876800"/>
            <a:ext cx="304800" cy="3810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5000625"/>
            <a:ext cx="1524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447800" y="1905000"/>
            <a:ext cx="854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 전환과 ISMS를 동시에 수행하는 것이 가능하냐요?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447800" y="2247900"/>
            <a:ext cx="10252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이에 대해서는 분기별로 리스크를 분산해 진행하고, 신규 인력 투입과 문서화 기반으로 충분히 수행 가능한 일정임을 다시 말씀드립니다.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1238250" y="3295650"/>
            <a:ext cx="1668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분기별 리스크 분산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1219200" y="37338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1분기에는 OS 전환 계획 수립 및 ISMS 자동화 범위 확대에 집중하고, 2~3분기에는 OS 전환 실행 및 자동화 기반 정비를 진행합니다.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6896100" y="3295650"/>
            <a:ext cx="1280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 투입</a:t>
            </a:r>
            <a:endParaRPr lang="en-US" sz="1350" dirty="0"/>
          </a:p>
        </p:txBody>
      </p:sp>
      <p:sp>
        <p:nvSpPr>
          <p:cNvPr id="28" name="Text 6"/>
          <p:cNvSpPr/>
          <p:nvPr/>
        </p:nvSpPr>
        <p:spPr>
          <a:xfrm>
            <a:off x="6819900" y="37338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 채용을 통해 역량을 확보하고, 기존 팀원들의 경험과 지식을 문서화하여 지속 가능하도록 체계를 구축했습니다.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1219200" y="4933950"/>
            <a:ext cx="1474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 기반 접근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1219200" y="53721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매뉴얼과 운영 절차를 체계적으로 문서화하여 단일 담당자 의존성을 줄이고, 모든 구성원이 업무를 원활히 이어받을 수 있도록 했습니다.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6858000" y="4933950"/>
            <a:ext cx="1577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ISMS 자동화 확대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6819900" y="53721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ISMS 주요 지표 관리 및 모니터링 자동화 범위를 확대하여, 반복적인 작업을 줄이고 사고 대응 능력을 강화할 것입니다.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1258550" y="6324600"/>
            <a:ext cx="480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10/10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2025-11-18T13:59:03Z</dcterms:created>
  <dcterms:modified xsi:type="dcterms:W3CDTF">2025-11-18T13:59:03Z</dcterms:modified>
</cp:coreProperties>
</file>