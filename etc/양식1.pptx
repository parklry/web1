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371600"/>
            <a:ext cx="1905000" cy="1905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4114800"/>
            <a:ext cx="1905000" cy="1905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0" y="2743200"/>
            <a:ext cx="1905000" cy="1905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4800600"/>
            <a:ext cx="1905000" cy="1905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762125"/>
            <a:ext cx="2857500" cy="33337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8464748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8693348"/>
            <a:ext cx="13335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8921948"/>
            <a:ext cx="152400" cy="1524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0" y="204192"/>
            <a:ext cx="12192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보안업무 2026 전략계획</a:t>
            </a:r>
            <a:endParaRPr lang="en-US" sz="2400" dirty="0"/>
          </a:p>
        </p:txBody>
      </p:sp>
      <p:sp>
        <p:nvSpPr>
          <p:cNvPr id="12" name="Text 1"/>
          <p:cNvSpPr/>
          <p:nvPr/>
        </p:nvSpPr>
        <p:spPr>
          <a:xfrm>
            <a:off x="0" y="7894141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업무 평가 및 향후 전략</a:t>
            </a:r>
            <a:endParaRPr lang="en-US" sz="1800" dirty="0"/>
          </a:p>
        </p:txBody>
      </p:sp>
      <p:sp>
        <p:nvSpPr>
          <p:cNvPr id="13" name="Text 2"/>
          <p:cNvSpPr/>
          <p:nvPr/>
        </p:nvSpPr>
        <p:spPr>
          <a:xfrm>
            <a:off x="0" y="9255323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2025년도 성과 분석 및 2026년 실행 계획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304270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6534"/>
            <a:ext cx="12192000" cy="162698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4159"/>
            <a:ext cx="171450" cy="152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835348"/>
            <a:ext cx="152400" cy="152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063948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292548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625923"/>
            <a:ext cx="12192000" cy="162698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673548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3614738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3843338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4071938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4405313"/>
            <a:ext cx="12192000" cy="1626989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4452938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5394127"/>
            <a:ext cx="13335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5622727"/>
            <a:ext cx="13335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5851327"/>
            <a:ext cx="133350" cy="1524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0" y="204192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개요</a:t>
            </a:r>
            <a:endParaRPr lang="en-US" sz="2400" dirty="0"/>
          </a:p>
        </p:txBody>
      </p:sp>
      <p:sp>
        <p:nvSpPr>
          <p:cNvPr id="19" name="Text 1"/>
          <p:cNvSpPr/>
          <p:nvPr/>
        </p:nvSpPr>
        <p:spPr>
          <a:xfrm>
            <a:off x="0" y="1264741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주요 성과</a:t>
            </a:r>
            <a:endParaRPr lang="en-US" sz="1800" dirty="0"/>
          </a:p>
        </p:txBody>
      </p:sp>
      <p:sp>
        <p:nvSpPr>
          <p:cNvPr id="20" name="Text 2"/>
          <p:cNvSpPr/>
          <p:nvPr/>
        </p:nvSpPr>
        <p:spPr>
          <a:xfrm>
            <a:off x="571500" y="1787723"/>
            <a:ext cx="2674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 보안 업무 정착 및 개선 추진</a:t>
            </a:r>
            <a:endParaRPr lang="en-US" sz="1200" dirty="0"/>
          </a:p>
        </p:txBody>
      </p:sp>
      <p:sp>
        <p:nvSpPr>
          <p:cNvPr id="21" name="Text 3"/>
          <p:cNvSpPr/>
          <p:nvPr/>
        </p:nvSpPr>
        <p:spPr>
          <a:xfrm>
            <a:off x="571500" y="2016323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보안체계 운영 기반 구축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571500" y="2244923"/>
            <a:ext cx="25031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장애 및 이슈 대응 경험 축적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0" y="3044130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환경 변화</a:t>
            </a:r>
            <a:endParaRPr lang="en-US" sz="1800" dirty="0"/>
          </a:p>
        </p:txBody>
      </p:sp>
      <p:sp>
        <p:nvSpPr>
          <p:cNvPr id="24" name="Text 6"/>
          <p:cNvSpPr/>
          <p:nvPr/>
        </p:nvSpPr>
        <p:spPr>
          <a:xfrm>
            <a:off x="571500" y="3567113"/>
            <a:ext cx="2114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구성 변화 및 퇴사자 발생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571500" y="3795713"/>
            <a:ext cx="2674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인력 배치 및 업무 안정화 필요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571500" y="4024313"/>
            <a:ext cx="262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관리체계 미흡에 따른 팀 역량 저하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0" y="4823520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실행 계획</a:t>
            </a:r>
            <a:endParaRPr lang="en-US" sz="1800" dirty="0"/>
          </a:p>
        </p:txBody>
      </p:sp>
      <p:sp>
        <p:nvSpPr>
          <p:cNvPr id="28" name="Text 10"/>
          <p:cNvSpPr/>
          <p:nvPr/>
        </p:nvSpPr>
        <p:spPr>
          <a:xfrm>
            <a:off x="552450" y="534650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운영 체계 강화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552450" y="5575102"/>
            <a:ext cx="17259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보강 및 역량 향상</a:t>
            </a:r>
            <a:endParaRPr lang="en-US" sz="1200" dirty="0"/>
          </a:p>
        </p:txBody>
      </p:sp>
      <p:sp>
        <p:nvSpPr>
          <p:cNvPr id="30" name="Text 12"/>
          <p:cNvSpPr/>
          <p:nvPr/>
        </p:nvSpPr>
        <p:spPr>
          <a:xfrm>
            <a:off x="552450" y="5803702"/>
            <a:ext cx="262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 안정성 확보 및 운영 표준화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11639550" y="12661702"/>
            <a:ext cx="434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/ 10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3618845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6534"/>
            <a:ext cx="12192000" cy="949463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056084"/>
            <a:ext cx="152400" cy="152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9188648"/>
            <a:ext cx="152400" cy="152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9417248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9645848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0264973"/>
            <a:ext cx="12192000" cy="762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0264973"/>
            <a:ext cx="12192000" cy="76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0341173"/>
            <a:ext cx="12192000" cy="949463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500" y="10550723"/>
            <a:ext cx="1905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18683288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18911888"/>
            <a:ext cx="152400" cy="1524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0" y="204192"/>
            <a:ext cx="349758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주요 성과 리뷰</a:t>
            </a:r>
            <a:endParaRPr lang="en-US" sz="2400" dirty="0"/>
          </a:p>
        </p:txBody>
      </p:sp>
      <p:sp>
        <p:nvSpPr>
          <p:cNvPr id="15" name="Text 1"/>
          <p:cNvSpPr/>
          <p:nvPr/>
        </p:nvSpPr>
        <p:spPr>
          <a:xfrm>
            <a:off x="0" y="1607641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 보안 업무 정착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571500" y="9141023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운영 체계의 기반을 닦음</a:t>
            </a:r>
            <a:endParaRPr lang="en-US" sz="1200" dirty="0"/>
          </a:p>
        </p:txBody>
      </p:sp>
      <p:sp>
        <p:nvSpPr>
          <p:cNvPr id="17" name="Text 3"/>
          <p:cNvSpPr/>
          <p:nvPr/>
        </p:nvSpPr>
        <p:spPr>
          <a:xfrm>
            <a:off x="571500" y="9369623"/>
            <a:ext cx="1897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정책 및 절차 문서화</a:t>
            </a:r>
            <a:endParaRPr lang="en-US" sz="1200" dirty="0"/>
          </a:p>
        </p:txBody>
      </p:sp>
      <p:sp>
        <p:nvSpPr>
          <p:cNvPr id="18" name="Text 4"/>
          <p:cNvSpPr/>
          <p:nvPr/>
        </p:nvSpPr>
        <p:spPr>
          <a:xfrm>
            <a:off x="571500" y="9598223"/>
            <a:ext cx="1680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보안 컨트롤 도입</a:t>
            </a: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0" y="9979223"/>
            <a:ext cx="1219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진행률</a:t>
            </a:r>
            <a:endParaRPr lang="en-US" sz="1200" dirty="0"/>
          </a:p>
        </p:txBody>
      </p:sp>
      <p:sp>
        <p:nvSpPr>
          <p:cNvPr id="20" name="Text 6"/>
          <p:cNvSpPr/>
          <p:nvPr/>
        </p:nvSpPr>
        <p:spPr>
          <a:xfrm>
            <a:off x="0" y="11102280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보안체계 구축</a:t>
            </a:r>
            <a:endParaRPr lang="en-US" sz="1800" dirty="0"/>
          </a:p>
        </p:txBody>
      </p:sp>
      <p:sp>
        <p:nvSpPr>
          <p:cNvPr id="21" name="Text 7"/>
          <p:cNvSpPr/>
          <p:nvPr/>
        </p:nvSpPr>
        <p:spPr>
          <a:xfrm>
            <a:off x="571500" y="18635663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보안 기술 도입</a:t>
            </a:r>
            <a:endParaRPr lang="en-US" sz="1200" dirty="0"/>
          </a:p>
        </p:txBody>
      </p:sp>
      <p:sp>
        <p:nvSpPr>
          <p:cNvPr id="22" name="Text 8"/>
          <p:cNvSpPr/>
          <p:nvPr/>
        </p:nvSpPr>
        <p:spPr>
          <a:xfrm>
            <a:off x="571500" y="18864263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운영 툴 체계화</a:t>
            </a:r>
            <a:endParaRPr lang="en-US" sz="1200" dirty="0"/>
          </a:p>
        </p:txBody>
      </p:sp>
      <p:sp>
        <p:nvSpPr>
          <p:cNvPr id="23" name="Text 9"/>
          <p:cNvSpPr/>
          <p:nvPr/>
        </p:nvSpPr>
        <p:spPr>
          <a:xfrm>
            <a:off x="571500" y="19092863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 보안 아키텍처 재설계</a:t>
            </a:r>
            <a:endParaRPr lang="en-US" sz="1200" dirty="0"/>
          </a:p>
        </p:txBody>
      </p:sp>
      <p:sp>
        <p:nvSpPr>
          <p:cNvPr id="24" name="Text 10"/>
          <p:cNvSpPr/>
          <p:nvPr/>
        </p:nvSpPr>
        <p:spPr>
          <a:xfrm>
            <a:off x="0" y="19473863"/>
            <a:ext cx="1219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진행률</a:t>
            </a:r>
            <a:endParaRPr lang="en-US" sz="1200" dirty="0"/>
          </a:p>
        </p:txBody>
      </p:sp>
      <p:sp>
        <p:nvSpPr>
          <p:cNvPr id="25" name="Text 11"/>
          <p:cNvSpPr/>
          <p:nvPr/>
        </p:nvSpPr>
        <p:spPr>
          <a:xfrm>
            <a:off x="0" y="20596920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대응 경험 축적</a:t>
            </a:r>
            <a:endParaRPr lang="en-US" sz="1800" dirty="0"/>
          </a:p>
        </p:txBody>
      </p:sp>
      <p:sp>
        <p:nvSpPr>
          <p:cNvPr id="26" name="Text 12"/>
          <p:cNvSpPr/>
          <p:nvPr/>
        </p:nvSpPr>
        <p:spPr>
          <a:xfrm>
            <a:off x="571500" y="2813030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보안 사고 대응</a:t>
            </a:r>
            <a:endParaRPr lang="en-US" sz="1200" dirty="0"/>
          </a:p>
        </p:txBody>
      </p:sp>
      <p:sp>
        <p:nvSpPr>
          <p:cNvPr id="27" name="Text 13"/>
          <p:cNvSpPr/>
          <p:nvPr/>
        </p:nvSpPr>
        <p:spPr>
          <a:xfrm>
            <a:off x="571500" y="28358902"/>
            <a:ext cx="1851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 대응 프로세스 구축</a:t>
            </a:r>
            <a:endParaRPr lang="en-US" sz="1200" dirty="0"/>
          </a:p>
        </p:txBody>
      </p:sp>
      <p:sp>
        <p:nvSpPr>
          <p:cNvPr id="28" name="Text 14"/>
          <p:cNvSpPr/>
          <p:nvPr/>
        </p:nvSpPr>
        <p:spPr>
          <a:xfrm>
            <a:off x="571500" y="2858750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 기반 지식 저장</a:t>
            </a:r>
            <a:endParaRPr lang="en-US" sz="1200" dirty="0"/>
          </a:p>
        </p:txBody>
      </p:sp>
      <p:sp>
        <p:nvSpPr>
          <p:cNvPr id="29" name="Text 15"/>
          <p:cNvSpPr/>
          <p:nvPr/>
        </p:nvSpPr>
        <p:spPr>
          <a:xfrm>
            <a:off x="0" y="28968502"/>
            <a:ext cx="1219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진행률</a:t>
            </a:r>
            <a:endParaRPr lang="en-US" sz="1200" dirty="0"/>
          </a:p>
        </p:txBody>
      </p:sp>
      <p:sp>
        <p:nvSpPr>
          <p:cNvPr id="30" name="Text 16"/>
          <p:cNvSpPr/>
          <p:nvPr/>
        </p:nvSpPr>
        <p:spPr>
          <a:xfrm>
            <a:off x="11639550" y="35807452"/>
            <a:ext cx="434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/ 10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876538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9123"/>
            <a:ext cx="12192000" cy="131861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" y="1721048"/>
            <a:ext cx="190500" cy="152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30141"/>
            <a:ext cx="12192000" cy="131861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5" y="3192066"/>
            <a:ext cx="190500" cy="152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061347"/>
            <a:ext cx="12192000" cy="131861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875" y="5223272"/>
            <a:ext cx="1905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532364"/>
            <a:ext cx="12192000" cy="131861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875" y="6694289"/>
            <a:ext cx="1905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8051006"/>
            <a:ext cx="114300" cy="1524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0" y="204192"/>
            <a:ext cx="296037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조직 환경 진단</a:t>
            </a:r>
            <a:endParaRPr lang="en-US" sz="2400" dirty="0"/>
          </a:p>
        </p:txBody>
      </p:sp>
      <p:sp>
        <p:nvSpPr>
          <p:cNvPr id="13" name="Text 1"/>
          <p:cNvSpPr/>
          <p:nvPr/>
        </p:nvSpPr>
        <p:spPr>
          <a:xfrm>
            <a:off x="0" y="1036141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상황</a:t>
            </a:r>
            <a:endParaRPr lang="en-US" sz="1800" dirty="0"/>
          </a:p>
        </p:txBody>
      </p:sp>
      <p:sp>
        <p:nvSpPr>
          <p:cNvPr id="14" name="Text 2"/>
          <p:cNvSpPr/>
          <p:nvPr/>
        </p:nvSpPr>
        <p:spPr>
          <a:xfrm>
            <a:off x="0" y="2213670"/>
            <a:ext cx="12192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404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구성 변화</a:t>
            </a:r>
            <a:endParaRPr lang="en-US" sz="1404" dirty="0"/>
          </a:p>
        </p:txBody>
      </p:sp>
      <p:sp>
        <p:nvSpPr>
          <p:cNvPr id="15" name="Text 3"/>
          <p:cNvSpPr/>
          <p:nvPr/>
        </p:nvSpPr>
        <p:spPr>
          <a:xfrm>
            <a:off x="0" y="2649141"/>
            <a:ext cx="1219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내 인원 분포가 불균형, 핵심 인력 퇴사로 인해 조직 구조에 변화가 생김</a:t>
            </a:r>
            <a:endParaRPr lang="en-US" sz="1200" dirty="0"/>
          </a:p>
        </p:txBody>
      </p:sp>
      <p:sp>
        <p:nvSpPr>
          <p:cNvPr id="16" name="Text 4"/>
          <p:cNvSpPr/>
          <p:nvPr/>
        </p:nvSpPr>
        <p:spPr>
          <a:xfrm>
            <a:off x="0" y="3684687"/>
            <a:ext cx="12192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404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퇴사자 발생</a:t>
            </a:r>
            <a:endParaRPr lang="en-US" sz="1404" dirty="0"/>
          </a:p>
        </p:txBody>
      </p:sp>
      <p:sp>
        <p:nvSpPr>
          <p:cNvPr id="17" name="Text 5"/>
          <p:cNvSpPr/>
          <p:nvPr/>
        </p:nvSpPr>
        <p:spPr>
          <a:xfrm>
            <a:off x="0" y="4120158"/>
            <a:ext cx="1219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6개월 간 3명의 핵심 인력 퇴사, 중요한 업무 지식과 경험 상실</a:t>
            </a:r>
            <a:endParaRPr lang="en-US" sz="1200" dirty="0"/>
          </a:p>
        </p:txBody>
      </p:sp>
      <p:sp>
        <p:nvSpPr>
          <p:cNvPr id="18" name="Text 6"/>
          <p:cNvSpPr/>
          <p:nvPr/>
        </p:nvSpPr>
        <p:spPr>
          <a:xfrm>
            <a:off x="0" y="4538365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 및 필요사항</a:t>
            </a:r>
            <a:endParaRPr lang="en-US" sz="1800" dirty="0"/>
          </a:p>
        </p:txBody>
      </p:sp>
      <p:sp>
        <p:nvSpPr>
          <p:cNvPr id="19" name="Text 7"/>
          <p:cNvSpPr/>
          <p:nvPr/>
        </p:nvSpPr>
        <p:spPr>
          <a:xfrm>
            <a:off x="0" y="5715893"/>
            <a:ext cx="12192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404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인력 배치</a:t>
            </a:r>
            <a:endParaRPr lang="en-US" sz="1404" dirty="0"/>
          </a:p>
        </p:txBody>
      </p:sp>
      <p:sp>
        <p:nvSpPr>
          <p:cNvPr id="20" name="Text 8"/>
          <p:cNvSpPr/>
          <p:nvPr/>
        </p:nvSpPr>
        <p:spPr>
          <a:xfrm>
            <a:off x="0" y="6151364"/>
            <a:ext cx="1219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업무 부담 감소, 핵심 역할 수행을 위한 적절한 인력 채용 필요</a:t>
            </a:r>
            <a:endParaRPr lang="en-US" sz="1200" dirty="0"/>
          </a:p>
        </p:txBody>
      </p:sp>
      <p:sp>
        <p:nvSpPr>
          <p:cNvPr id="21" name="Text 9"/>
          <p:cNvSpPr/>
          <p:nvPr/>
        </p:nvSpPr>
        <p:spPr>
          <a:xfrm>
            <a:off x="0" y="7186910"/>
            <a:ext cx="12192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404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관리체계 개선</a:t>
            </a:r>
            <a:endParaRPr lang="en-US" sz="1404" dirty="0"/>
          </a:p>
        </p:txBody>
      </p:sp>
      <p:sp>
        <p:nvSpPr>
          <p:cNvPr id="22" name="Text 10"/>
          <p:cNvSpPr/>
          <p:nvPr/>
        </p:nvSpPr>
        <p:spPr>
          <a:xfrm>
            <a:off x="0" y="7622381"/>
            <a:ext cx="1219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역량 저하 원인: 관리체계 미흡, 문서화, 지식 관리 체계 필요</a:t>
            </a:r>
            <a:endParaRPr lang="en-US" sz="1200" dirty="0"/>
          </a:p>
        </p:txBody>
      </p:sp>
      <p:sp>
        <p:nvSpPr>
          <p:cNvPr id="23" name="Text 11"/>
          <p:cNvSpPr/>
          <p:nvPr/>
        </p:nvSpPr>
        <p:spPr>
          <a:xfrm>
            <a:off x="0" y="8384381"/>
            <a:ext cx="1463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 결과: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2026년에는 팀 역량 균형 맞추고 조직 안정성 높이기 위해, 인력 개발과 관리 체계 강화에 집중해야 합니다.</a:t>
            </a:r>
            <a:endParaRPr lang="en-US" sz="1200" dirty="0"/>
          </a:p>
        </p:txBody>
      </p:sp>
      <p:sp>
        <p:nvSpPr>
          <p:cNvPr id="24" name="Text 12"/>
          <p:cNvSpPr/>
          <p:nvPr/>
        </p:nvSpPr>
        <p:spPr>
          <a:xfrm>
            <a:off x="11639550" y="8384381"/>
            <a:ext cx="434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/ 10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470005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6534"/>
            <a:ext cx="12192000" cy="217943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1008459"/>
            <a:ext cx="152400" cy="152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78373"/>
            <a:ext cx="12192000" cy="217943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5" y="3340298"/>
            <a:ext cx="190500" cy="152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510213"/>
            <a:ext cx="12192000" cy="217943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925" y="5672138"/>
            <a:ext cx="152400" cy="1524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0" y="204192"/>
            <a:ext cx="339471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사업계획 방향</a:t>
            </a:r>
            <a:endParaRPr lang="en-US" sz="2400" dirty="0"/>
          </a:p>
        </p:txBody>
      </p:sp>
      <p:sp>
        <p:nvSpPr>
          <p:cNvPr id="10" name="Text 1"/>
          <p:cNvSpPr/>
          <p:nvPr/>
        </p:nvSpPr>
        <p:spPr>
          <a:xfrm>
            <a:off x="0" y="1512391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운영 체계 강화</a:t>
            </a:r>
            <a:endParaRPr lang="en-US" sz="1800" dirty="0"/>
          </a:p>
        </p:txBody>
      </p:sp>
      <p:sp>
        <p:nvSpPr>
          <p:cNvPr id="11" name="Text 2"/>
          <p:cNvSpPr/>
          <p:nvPr/>
        </p:nvSpPr>
        <p:spPr>
          <a:xfrm>
            <a:off x="190500" y="2035373"/>
            <a:ext cx="1200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재인증 준비 체계 강화</a:t>
            </a:r>
            <a:endParaRPr lang="en-US" sz="1200" dirty="0"/>
          </a:p>
        </p:txBody>
      </p:sp>
      <p:sp>
        <p:nvSpPr>
          <p:cNvPr id="12" name="Text 3"/>
          <p:cNvSpPr/>
          <p:nvPr/>
        </p:nvSpPr>
        <p:spPr>
          <a:xfrm>
            <a:off x="190500" y="2416373"/>
            <a:ext cx="1200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ISMS 주요 인프라 보안 수준 상향</a:t>
            </a:r>
            <a:endParaRPr lang="en-US" sz="1200" dirty="0"/>
          </a:p>
        </p:txBody>
      </p:sp>
      <p:sp>
        <p:nvSpPr>
          <p:cNvPr id="13" name="Text 4"/>
          <p:cNvSpPr/>
          <p:nvPr/>
        </p:nvSpPr>
        <p:spPr>
          <a:xfrm>
            <a:off x="190500" y="2797373"/>
            <a:ext cx="1200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취약점 관리 자동화 및 효율화</a:t>
            </a:r>
            <a:endParaRPr lang="en-US" sz="1200" dirty="0"/>
          </a:p>
        </p:txBody>
      </p:sp>
      <p:sp>
        <p:nvSpPr>
          <p:cNvPr id="14" name="Text 5"/>
          <p:cNvSpPr/>
          <p:nvPr/>
        </p:nvSpPr>
        <p:spPr>
          <a:xfrm>
            <a:off x="0" y="3844230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보강 및 역량 향상</a:t>
            </a:r>
            <a:endParaRPr lang="en-US" sz="1800" dirty="0"/>
          </a:p>
        </p:txBody>
      </p:sp>
      <p:sp>
        <p:nvSpPr>
          <p:cNvPr id="15" name="Text 6"/>
          <p:cNvSpPr/>
          <p:nvPr/>
        </p:nvSpPr>
        <p:spPr>
          <a:xfrm>
            <a:off x="190500" y="4367213"/>
            <a:ext cx="1200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인력 역량 분석 및 개발 계획</a:t>
            </a:r>
            <a:endParaRPr lang="en-US" sz="1200" dirty="0"/>
          </a:p>
        </p:txBody>
      </p:sp>
      <p:sp>
        <p:nvSpPr>
          <p:cNvPr id="16" name="Text 7"/>
          <p:cNvSpPr/>
          <p:nvPr/>
        </p:nvSpPr>
        <p:spPr>
          <a:xfrm>
            <a:off x="190500" y="4748213"/>
            <a:ext cx="1200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구성원 피드백 기반 미팅 활성화</a:t>
            </a:r>
            <a:endParaRPr lang="en-US" sz="1200" dirty="0"/>
          </a:p>
        </p:txBody>
      </p:sp>
      <p:sp>
        <p:nvSpPr>
          <p:cNvPr id="17" name="Text 8"/>
          <p:cNvSpPr/>
          <p:nvPr/>
        </p:nvSpPr>
        <p:spPr>
          <a:xfrm>
            <a:off x="190500" y="5129213"/>
            <a:ext cx="1200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1:1 면담 및 퇴사자 재발 방지 체계</a:t>
            </a:r>
            <a:endParaRPr lang="en-US" sz="1200" dirty="0"/>
          </a:p>
        </p:txBody>
      </p:sp>
      <p:sp>
        <p:nvSpPr>
          <p:cNvPr id="18" name="Text 9"/>
          <p:cNvSpPr/>
          <p:nvPr/>
        </p:nvSpPr>
        <p:spPr>
          <a:xfrm>
            <a:off x="0" y="6176070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 안정성 확보 및 운영 표준화</a:t>
            </a:r>
            <a:endParaRPr lang="en-US" sz="1800" dirty="0"/>
          </a:p>
        </p:txBody>
      </p:sp>
      <p:sp>
        <p:nvSpPr>
          <p:cNvPr id="19" name="Text 10"/>
          <p:cNvSpPr/>
          <p:nvPr/>
        </p:nvSpPr>
        <p:spPr>
          <a:xfrm>
            <a:off x="190500" y="6699052"/>
            <a:ext cx="1200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 운영 매뉴얼 및 표준 정의</a:t>
            </a:r>
            <a:endParaRPr lang="en-US" sz="1200" dirty="0"/>
          </a:p>
        </p:txBody>
      </p:sp>
      <p:sp>
        <p:nvSpPr>
          <p:cNvPr id="20" name="Text 11"/>
          <p:cNvSpPr/>
          <p:nvPr/>
        </p:nvSpPr>
        <p:spPr>
          <a:xfrm>
            <a:off x="190500" y="7080052"/>
            <a:ext cx="1200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비로그 모니터링 및 이상징후 탐지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190500" y="7461052"/>
            <a:ext cx="1200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도화장애 발생 시 신속 대응 프로세스</a:t>
            </a:r>
            <a:endParaRPr lang="en-US" sz="1200" dirty="0"/>
          </a:p>
        </p:txBody>
      </p:sp>
      <p:sp>
        <p:nvSpPr>
          <p:cNvPr id="22" name="Text 13"/>
          <p:cNvSpPr/>
          <p:nvPr/>
        </p:nvSpPr>
        <p:spPr>
          <a:xfrm>
            <a:off x="11639550" y="14319052"/>
            <a:ext cx="434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/ 10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321415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6534"/>
            <a:ext cx="12192000" cy="183653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4159"/>
            <a:ext cx="152400" cy="152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73498"/>
            <a:ext cx="152400" cy="152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83073"/>
            <a:ext cx="12192000" cy="183653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730698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110038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519613"/>
            <a:ext cx="12192000" cy="183653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4567238"/>
            <a:ext cx="1905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5946577"/>
            <a:ext cx="190500" cy="1524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0" y="204192"/>
            <a:ext cx="21945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사업 전략</a:t>
            </a:r>
            <a:endParaRPr lang="en-US" sz="2400" dirty="0"/>
          </a:p>
        </p:txBody>
      </p:sp>
      <p:sp>
        <p:nvSpPr>
          <p:cNvPr id="13" name="Text 1"/>
          <p:cNvSpPr/>
          <p:nvPr/>
        </p:nvSpPr>
        <p:spPr>
          <a:xfrm>
            <a:off x="0" y="1264741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ISMS 재인증 준비 체계 강화</a:t>
            </a:r>
            <a:endParaRPr lang="en-US" sz="1800" dirty="0"/>
          </a:p>
        </p:txBody>
      </p:sp>
      <p:sp>
        <p:nvSpPr>
          <p:cNvPr id="14" name="Text 2"/>
          <p:cNvSpPr/>
          <p:nvPr/>
        </p:nvSpPr>
        <p:spPr>
          <a:xfrm>
            <a:off x="0" y="1787723"/>
            <a:ext cx="1219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재인증을 위한 체계적 준비로 보안 운영 강화</a:t>
            </a:r>
            <a:endParaRPr lang="en-US" sz="1200" dirty="0"/>
          </a:p>
        </p:txBody>
      </p:sp>
      <p:sp>
        <p:nvSpPr>
          <p:cNvPr id="15" name="Text 3"/>
          <p:cNvSpPr/>
          <p:nvPr/>
        </p:nvSpPr>
        <p:spPr>
          <a:xfrm>
            <a:off x="0" y="2454473"/>
            <a:ext cx="5829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</a:t>
            </a:r>
            <a:endParaRPr lang="en-US" sz="1200" dirty="0"/>
          </a:p>
        </p:txBody>
      </p:sp>
      <p:sp>
        <p:nvSpPr>
          <p:cNvPr id="16" name="Text 4"/>
          <p:cNvSpPr/>
          <p:nvPr/>
        </p:nvSpPr>
        <p:spPr>
          <a:xfrm>
            <a:off x="0" y="3101280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인프라 자산 보안 수준 상향</a:t>
            </a:r>
            <a:endParaRPr lang="en-US" sz="1800" dirty="0"/>
          </a:p>
        </p:txBody>
      </p:sp>
      <p:sp>
        <p:nvSpPr>
          <p:cNvPr id="17" name="Text 5"/>
          <p:cNvSpPr/>
          <p:nvPr/>
        </p:nvSpPr>
        <p:spPr>
          <a:xfrm>
            <a:off x="0" y="3624263"/>
            <a:ext cx="1219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인프라 자산 보안 수준 향상으로 위험 최소화</a:t>
            </a:r>
            <a:endParaRPr lang="en-US" sz="1200" dirty="0"/>
          </a:p>
        </p:txBody>
      </p:sp>
      <p:sp>
        <p:nvSpPr>
          <p:cNvPr id="18" name="Text 6"/>
          <p:cNvSpPr/>
          <p:nvPr/>
        </p:nvSpPr>
        <p:spPr>
          <a:xfrm>
            <a:off x="0" y="4291013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지속적</a:t>
            </a:r>
            <a:endParaRPr lang="en-US" sz="1200" dirty="0"/>
          </a:p>
        </p:txBody>
      </p:sp>
      <p:sp>
        <p:nvSpPr>
          <p:cNvPr id="19" name="Text 7"/>
          <p:cNvSpPr/>
          <p:nvPr/>
        </p:nvSpPr>
        <p:spPr>
          <a:xfrm>
            <a:off x="0" y="4937820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취약점 관리 자동화 및 효율화</a:t>
            </a:r>
            <a:endParaRPr lang="en-US" sz="1800" dirty="0"/>
          </a:p>
        </p:txBody>
      </p:sp>
      <p:sp>
        <p:nvSpPr>
          <p:cNvPr id="20" name="Text 8"/>
          <p:cNvSpPr/>
          <p:nvPr/>
        </p:nvSpPr>
        <p:spPr>
          <a:xfrm>
            <a:off x="0" y="5460802"/>
            <a:ext cx="1219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자동화된 취약점 관리로 효율성 제고</a:t>
            </a:r>
            <a:endParaRPr lang="en-US" sz="1200" dirty="0"/>
          </a:p>
        </p:txBody>
      </p:sp>
      <p:sp>
        <p:nvSpPr>
          <p:cNvPr id="21" name="Text 9"/>
          <p:cNvSpPr/>
          <p:nvPr/>
        </p:nvSpPr>
        <p:spPr>
          <a:xfrm>
            <a:off x="0" y="6127552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혁신적</a:t>
            </a:r>
            <a:endParaRPr lang="en-US" sz="1200" dirty="0"/>
          </a:p>
        </p:txBody>
      </p:sp>
      <p:sp>
        <p:nvSpPr>
          <p:cNvPr id="22" name="Text 10"/>
          <p:cNvSpPr/>
          <p:nvPr/>
        </p:nvSpPr>
        <p:spPr>
          <a:xfrm>
            <a:off x="11639550" y="12833152"/>
            <a:ext cx="434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/ 10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460480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7034"/>
            <a:ext cx="121920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13259"/>
            <a:ext cx="133350" cy="152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254448"/>
            <a:ext cx="114300" cy="152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483048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711648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092648"/>
            <a:ext cx="1143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473648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414838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4643438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4872038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5253038"/>
            <a:ext cx="1143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5634038"/>
            <a:ext cx="1143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6575227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6803827"/>
            <a:ext cx="19050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7032427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7413427"/>
            <a:ext cx="114300" cy="1524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0" y="204192"/>
            <a:ext cx="395478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프로세스 고도화 계획</a:t>
            </a:r>
            <a:endParaRPr lang="en-US" sz="2400" dirty="0"/>
          </a:p>
        </p:txBody>
      </p:sp>
      <p:sp>
        <p:nvSpPr>
          <p:cNvPr id="20" name="Text 1"/>
          <p:cNvSpPr/>
          <p:nvPr/>
        </p:nvSpPr>
        <p:spPr>
          <a:xfrm>
            <a:off x="1962150" y="751284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</a:t>
            </a:r>
            <a:endParaRPr lang="en-US" sz="1200" dirty="0"/>
          </a:p>
        </p:txBody>
      </p:sp>
      <p:sp>
        <p:nvSpPr>
          <p:cNvPr id="21" name="Text 2"/>
          <p:cNvSpPr/>
          <p:nvPr/>
        </p:nvSpPr>
        <p:spPr>
          <a:xfrm>
            <a:off x="5619750" y="751284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9277350" y="751284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0" y="1683841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 운영 매뉴얼 정비</a:t>
            </a:r>
            <a:endParaRPr lang="en-US" sz="1800" dirty="0"/>
          </a:p>
        </p:txBody>
      </p:sp>
      <p:sp>
        <p:nvSpPr>
          <p:cNvPr id="24" name="Text 5"/>
          <p:cNvSpPr/>
          <p:nvPr/>
        </p:nvSpPr>
        <p:spPr>
          <a:xfrm>
            <a:off x="533400" y="2206823"/>
            <a:ext cx="1851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 운영 매뉴얼 정의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571500" y="2435423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운영 절차 수립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571500" y="2664023"/>
            <a:ext cx="16344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프로세스 문서화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114300" y="3045023"/>
            <a:ext cx="1219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일관된 운영을 위해 필수적인 문서화 체계 구축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0" y="3844230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모니터링 체계 고도화</a:t>
            </a:r>
            <a:endParaRPr lang="en-US" sz="1800" dirty="0"/>
          </a:p>
        </p:txBody>
      </p:sp>
      <p:sp>
        <p:nvSpPr>
          <p:cNvPr id="29" name="Text 10"/>
          <p:cNvSpPr/>
          <p:nvPr/>
        </p:nvSpPr>
        <p:spPr>
          <a:xfrm>
            <a:off x="571500" y="4367213"/>
            <a:ext cx="202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비로그 모니터링 체계 구축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571500" y="4595813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이상징후 탐지 알고리즘 개선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571500" y="4824413"/>
            <a:ext cx="24117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이벤트 실시간 알림 시스템</a:t>
            </a:r>
            <a:endParaRPr lang="en-US" sz="1200" dirty="0"/>
          </a:p>
        </p:txBody>
      </p:sp>
      <p:sp>
        <p:nvSpPr>
          <p:cNvPr id="32" name="Text 13"/>
          <p:cNvSpPr/>
          <p:nvPr/>
        </p:nvSpPr>
        <p:spPr>
          <a:xfrm>
            <a:off x="114300" y="5205413"/>
            <a:ext cx="1219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탐지와 대응을 위한 체계적 모니터링 강화</a:t>
            </a:r>
            <a:endParaRPr lang="en-US" sz="1200" dirty="0"/>
          </a:p>
        </p:txBody>
      </p:sp>
      <p:sp>
        <p:nvSpPr>
          <p:cNvPr id="33" name="Text 14"/>
          <p:cNvSpPr/>
          <p:nvPr/>
        </p:nvSpPr>
        <p:spPr>
          <a:xfrm>
            <a:off x="0" y="6004620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신속 대응 프로세스 강화</a:t>
            </a:r>
            <a:endParaRPr lang="en-US" sz="1800" dirty="0"/>
          </a:p>
        </p:txBody>
      </p:sp>
      <p:sp>
        <p:nvSpPr>
          <p:cNvPr id="34" name="Text 15"/>
          <p:cNvSpPr/>
          <p:nvPr/>
        </p:nvSpPr>
        <p:spPr>
          <a:xfrm>
            <a:off x="571500" y="6527602"/>
            <a:ext cx="2800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도화장애 발생 시 신속 대응 프로세스</a:t>
            </a:r>
            <a:endParaRPr lang="en-US" sz="1200" dirty="0"/>
          </a:p>
        </p:txBody>
      </p:sp>
      <p:sp>
        <p:nvSpPr>
          <p:cNvPr id="35" name="Text 16"/>
          <p:cNvSpPr/>
          <p:nvPr/>
        </p:nvSpPr>
        <p:spPr>
          <a:xfrm>
            <a:off x="609600" y="6756202"/>
            <a:ext cx="2366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urgency에 따른 우선순위 설정</a:t>
            </a:r>
            <a:endParaRPr lang="en-US" sz="1200" dirty="0"/>
          </a:p>
        </p:txBody>
      </p:sp>
      <p:sp>
        <p:nvSpPr>
          <p:cNvPr id="36" name="Text 17"/>
          <p:cNvSpPr/>
          <p:nvPr/>
        </p:nvSpPr>
        <p:spPr>
          <a:xfrm>
            <a:off x="571500" y="6984802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대응 테스트 및 지속적 개선</a:t>
            </a:r>
            <a:endParaRPr lang="en-US" sz="1200" dirty="0"/>
          </a:p>
        </p:txBody>
      </p:sp>
      <p:sp>
        <p:nvSpPr>
          <p:cNvPr id="37" name="Text 18"/>
          <p:cNvSpPr/>
          <p:nvPr/>
        </p:nvSpPr>
        <p:spPr>
          <a:xfrm>
            <a:off x="114300" y="7365802"/>
            <a:ext cx="1219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최소한의 시간 내에 장애 영향을 최소화하는 프로세스</a:t>
            </a:r>
            <a:endParaRPr lang="en-US" sz="1200" dirty="0"/>
          </a:p>
        </p:txBody>
      </p:sp>
      <p:sp>
        <p:nvSpPr>
          <p:cNvPr id="38" name="Text 19"/>
          <p:cNvSpPr/>
          <p:nvPr/>
        </p:nvSpPr>
        <p:spPr>
          <a:xfrm>
            <a:off x="11639550" y="14223802"/>
            <a:ext cx="434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 / 10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550789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111" y="952500"/>
            <a:ext cx="1649778" cy="952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111" y="952500"/>
            <a:ext cx="1649778" cy="952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5111" y="13602891"/>
            <a:ext cx="1649778" cy="952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7111" y="13602891"/>
            <a:ext cx="1649778" cy="952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894159"/>
            <a:ext cx="1905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532334"/>
            <a:ext cx="12192000" cy="162698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579959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521148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2749748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2978348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3311723"/>
            <a:ext cx="12192000" cy="1626989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3359348"/>
            <a:ext cx="1905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4300538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4529138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4757738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5091113"/>
            <a:ext cx="12192000" cy="1626989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5138738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1000" y="6079927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1000" y="6308527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1000" y="6537127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6870502"/>
            <a:ext cx="12192000" cy="1626989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6918127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1000" y="7859316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81000" y="8087916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1000" y="8316516"/>
            <a:ext cx="152400" cy="1524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0" y="204192"/>
            <a:ext cx="449199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관리 및 리스크 대응 강화</a:t>
            </a:r>
            <a:endParaRPr lang="en-US" sz="2400" dirty="0"/>
          </a:p>
        </p:txBody>
      </p:sp>
      <p:sp>
        <p:nvSpPr>
          <p:cNvPr id="29" name="Text 1"/>
          <p:cNvSpPr/>
          <p:nvPr/>
        </p:nvSpPr>
        <p:spPr>
          <a:xfrm>
            <a:off x="0" y="1075134"/>
            <a:ext cx="1219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관리</a:t>
            </a:r>
            <a:endParaRPr lang="en-US" sz="1200" dirty="0"/>
          </a:p>
        </p:txBody>
      </p:sp>
      <p:sp>
        <p:nvSpPr>
          <p:cNvPr id="30" name="Text 2"/>
          <p:cNvSpPr/>
          <p:nvPr/>
        </p:nvSpPr>
        <p:spPr>
          <a:xfrm>
            <a:off x="0" y="1303734"/>
            <a:ext cx="1219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체계화</a:t>
            </a:r>
            <a:endParaRPr lang="en-US" sz="1200" dirty="0"/>
          </a:p>
        </p:txBody>
      </p:sp>
      <p:sp>
        <p:nvSpPr>
          <p:cNvPr id="31" name="Text 3"/>
          <p:cNvSpPr/>
          <p:nvPr/>
        </p:nvSpPr>
        <p:spPr>
          <a:xfrm>
            <a:off x="0" y="1950541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인력 역량 개발</a:t>
            </a:r>
            <a:endParaRPr lang="en-US" sz="1800" dirty="0"/>
          </a:p>
        </p:txBody>
      </p:sp>
      <p:sp>
        <p:nvSpPr>
          <p:cNvPr id="32" name="Text 4"/>
          <p:cNvSpPr/>
          <p:nvPr/>
        </p:nvSpPr>
        <p:spPr>
          <a:xfrm>
            <a:off x="571500" y="2473523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인력의 역량 분석 체계화</a:t>
            </a:r>
            <a:endParaRPr lang="en-US" sz="1200" dirty="0"/>
          </a:p>
        </p:txBody>
      </p:sp>
      <p:sp>
        <p:nvSpPr>
          <p:cNvPr id="33" name="Text 5"/>
          <p:cNvSpPr/>
          <p:nvPr/>
        </p:nvSpPr>
        <p:spPr>
          <a:xfrm>
            <a:off x="571500" y="2702123"/>
            <a:ext cx="17259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계획 수립 및 실행</a:t>
            </a:r>
            <a:endParaRPr lang="en-US" sz="1200" dirty="0"/>
          </a:p>
        </p:txBody>
      </p:sp>
      <p:sp>
        <p:nvSpPr>
          <p:cNvPr id="34" name="Text 6"/>
          <p:cNvSpPr/>
          <p:nvPr/>
        </p:nvSpPr>
        <p:spPr>
          <a:xfrm>
            <a:off x="571500" y="2930723"/>
            <a:ext cx="2800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 역량 향상을 위한 훈련 프로그램</a:t>
            </a:r>
            <a:endParaRPr lang="en-US" sz="1200" dirty="0"/>
          </a:p>
        </p:txBody>
      </p:sp>
      <p:sp>
        <p:nvSpPr>
          <p:cNvPr id="35" name="Text 7"/>
          <p:cNvSpPr/>
          <p:nvPr/>
        </p:nvSpPr>
        <p:spPr>
          <a:xfrm>
            <a:off x="0" y="3729930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 미팅 활성화</a:t>
            </a:r>
            <a:endParaRPr lang="en-US" sz="1800" dirty="0"/>
          </a:p>
        </p:txBody>
      </p:sp>
      <p:sp>
        <p:nvSpPr>
          <p:cNvPr id="36" name="Text 8"/>
          <p:cNvSpPr/>
          <p:nvPr/>
        </p:nvSpPr>
        <p:spPr>
          <a:xfrm>
            <a:off x="571500" y="4252913"/>
            <a:ext cx="24117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구성원 피드백 기반의 정기 미팅</a:t>
            </a:r>
            <a:endParaRPr lang="en-US" sz="1200" dirty="0"/>
          </a:p>
        </p:txBody>
      </p:sp>
      <p:sp>
        <p:nvSpPr>
          <p:cNvPr id="37" name="Text 9"/>
          <p:cNvSpPr/>
          <p:nvPr/>
        </p:nvSpPr>
        <p:spPr>
          <a:xfrm>
            <a:off x="571500" y="4481513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1:1 면담 제도 도입</a:t>
            </a:r>
            <a:endParaRPr lang="en-US" sz="1200" dirty="0"/>
          </a:p>
        </p:txBody>
      </p:sp>
      <p:sp>
        <p:nvSpPr>
          <p:cNvPr id="38" name="Text 10"/>
          <p:cNvSpPr/>
          <p:nvPr/>
        </p:nvSpPr>
        <p:spPr>
          <a:xfrm>
            <a:off x="571500" y="4710113"/>
            <a:ext cx="1851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내 커뮤니케이션 향상</a:t>
            </a:r>
            <a:endParaRPr lang="en-US" sz="1200" dirty="0"/>
          </a:p>
        </p:txBody>
      </p:sp>
      <p:sp>
        <p:nvSpPr>
          <p:cNvPr id="39" name="Text 11"/>
          <p:cNvSpPr/>
          <p:nvPr/>
        </p:nvSpPr>
        <p:spPr>
          <a:xfrm>
            <a:off x="0" y="5509320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퇴사자 재발 방지</a:t>
            </a:r>
            <a:endParaRPr lang="en-US" sz="1800" dirty="0"/>
          </a:p>
        </p:txBody>
      </p:sp>
      <p:sp>
        <p:nvSpPr>
          <p:cNvPr id="40" name="Text 12"/>
          <p:cNvSpPr/>
          <p:nvPr/>
        </p:nvSpPr>
        <p:spPr>
          <a:xfrm>
            <a:off x="571500" y="6032302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1:1 화퇴사자 재발 방지를 위한 조직 관리 체계</a:t>
            </a:r>
            <a:endParaRPr lang="en-US" sz="1200" dirty="0"/>
          </a:p>
        </p:txBody>
      </p:sp>
      <p:sp>
        <p:nvSpPr>
          <p:cNvPr id="41" name="Text 13"/>
          <p:cNvSpPr/>
          <p:nvPr/>
        </p:nvSpPr>
        <p:spPr>
          <a:xfrm>
            <a:off x="571500" y="6260902"/>
            <a:ext cx="25031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원인 분석 및 개선 방안 도입</a:t>
            </a:r>
            <a:endParaRPr lang="en-US" sz="1200" dirty="0"/>
          </a:p>
        </p:txBody>
      </p:sp>
      <p:sp>
        <p:nvSpPr>
          <p:cNvPr id="42" name="Text 14"/>
          <p:cNvSpPr/>
          <p:nvPr/>
        </p:nvSpPr>
        <p:spPr>
          <a:xfrm>
            <a:off x="571500" y="6489502"/>
            <a:ext cx="2800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팀워크 및 사기 향상을 위한 프로그램</a:t>
            </a:r>
            <a:endParaRPr lang="en-US" sz="1200" dirty="0"/>
          </a:p>
        </p:txBody>
      </p:sp>
      <p:sp>
        <p:nvSpPr>
          <p:cNvPr id="43" name="Text 15"/>
          <p:cNvSpPr/>
          <p:nvPr/>
        </p:nvSpPr>
        <p:spPr>
          <a:xfrm>
            <a:off x="0" y="7288709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리스크 관리</a:t>
            </a:r>
            <a:endParaRPr lang="en-US" sz="1800" dirty="0"/>
          </a:p>
        </p:txBody>
      </p:sp>
      <p:sp>
        <p:nvSpPr>
          <p:cNvPr id="44" name="Text 16"/>
          <p:cNvSpPr/>
          <p:nvPr/>
        </p:nvSpPr>
        <p:spPr>
          <a:xfrm>
            <a:off x="571500" y="7811691"/>
            <a:ext cx="3234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리스크 조기 식별 및 대응 프로세스 마련</a:t>
            </a:r>
            <a:endParaRPr lang="en-US" sz="1200" dirty="0"/>
          </a:p>
        </p:txBody>
      </p:sp>
      <p:sp>
        <p:nvSpPr>
          <p:cNvPr id="45" name="Text 17"/>
          <p:cNvSpPr/>
          <p:nvPr/>
        </p:nvSpPr>
        <p:spPr>
          <a:xfrm>
            <a:off x="571500" y="8040291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대응 팀 내 표준화 프로세스 구축</a:t>
            </a:r>
            <a:endParaRPr lang="en-US" sz="1200" dirty="0"/>
          </a:p>
        </p:txBody>
      </p:sp>
      <p:sp>
        <p:nvSpPr>
          <p:cNvPr id="46" name="Text 18"/>
          <p:cNvSpPr/>
          <p:nvPr/>
        </p:nvSpPr>
        <p:spPr>
          <a:xfrm>
            <a:off x="571500" y="8268891"/>
            <a:ext cx="262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사고에 대한 신속한 대응 체계</a:t>
            </a:r>
            <a:endParaRPr lang="en-US" sz="1200" dirty="0"/>
          </a:p>
        </p:txBody>
      </p:sp>
      <p:sp>
        <p:nvSpPr>
          <p:cNvPr id="47" name="Text 19"/>
          <p:cNvSpPr/>
          <p:nvPr/>
        </p:nvSpPr>
        <p:spPr>
          <a:xfrm>
            <a:off x="11639550" y="15126891"/>
            <a:ext cx="434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 / 10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7060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056084"/>
            <a:ext cx="152400" cy="152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178248"/>
            <a:ext cx="152400" cy="152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406848"/>
            <a:ext cx="152400" cy="152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045023"/>
            <a:ext cx="12192000" cy="762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0" y="3330773"/>
            <a:ext cx="1905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4452938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4681538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5319713"/>
            <a:ext cx="12192000" cy="762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19800" y="5605463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6727627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6956227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7594402"/>
            <a:ext cx="12192000" cy="762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0" y="204192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2400" dirty="0"/>
          </a:p>
        </p:txBody>
      </p:sp>
      <p:sp>
        <p:nvSpPr>
          <p:cNvPr id="16" name="Text 1"/>
          <p:cNvSpPr/>
          <p:nvPr/>
        </p:nvSpPr>
        <p:spPr>
          <a:xfrm>
            <a:off x="0" y="1607641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운영 안정성 향상</a:t>
            </a:r>
            <a:endParaRPr lang="en-US" sz="1800" dirty="0"/>
          </a:p>
        </p:txBody>
      </p:sp>
      <p:sp>
        <p:nvSpPr>
          <p:cNvPr id="17" name="Text 2"/>
          <p:cNvSpPr/>
          <p:nvPr/>
        </p:nvSpPr>
        <p:spPr>
          <a:xfrm>
            <a:off x="571500" y="2130623"/>
            <a:ext cx="1851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 운영 안정성 향상</a:t>
            </a:r>
            <a:endParaRPr lang="en-US" sz="1200" dirty="0"/>
          </a:p>
        </p:txBody>
      </p:sp>
      <p:sp>
        <p:nvSpPr>
          <p:cNvPr id="18" name="Text 3"/>
          <p:cNvSpPr/>
          <p:nvPr/>
        </p:nvSpPr>
        <p:spPr>
          <a:xfrm>
            <a:off x="571500" y="2359223"/>
            <a:ext cx="202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비로그 모니터링 체계 강화</a:t>
            </a:r>
            <a:endParaRPr lang="en-US" sz="1200" dirty="0"/>
          </a:p>
        </p:txBody>
      </p:sp>
      <p:sp>
        <p:nvSpPr>
          <p:cNvPr id="19" name="Text 4"/>
          <p:cNvSpPr/>
          <p:nvPr/>
        </p:nvSpPr>
        <p:spPr>
          <a:xfrm>
            <a:off x="0" y="2740223"/>
            <a:ext cx="902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가능성</a:t>
            </a:r>
            <a:endParaRPr lang="en-US" sz="1200" dirty="0"/>
          </a:p>
        </p:txBody>
      </p:sp>
      <p:sp>
        <p:nvSpPr>
          <p:cNvPr id="20" name="Text 5"/>
          <p:cNvSpPr/>
          <p:nvPr/>
        </p:nvSpPr>
        <p:spPr>
          <a:xfrm>
            <a:off x="790575" y="2740223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1200" dirty="0"/>
          </a:p>
        </p:txBody>
      </p:sp>
      <p:sp>
        <p:nvSpPr>
          <p:cNvPr id="21" name="Text 6"/>
          <p:cNvSpPr/>
          <p:nvPr/>
        </p:nvSpPr>
        <p:spPr>
          <a:xfrm>
            <a:off x="0" y="3882330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역량 균형 확보</a:t>
            </a:r>
            <a:endParaRPr lang="en-US" sz="1800" dirty="0"/>
          </a:p>
        </p:txBody>
      </p:sp>
      <p:sp>
        <p:nvSpPr>
          <p:cNvPr id="22" name="Text 7"/>
          <p:cNvSpPr/>
          <p:nvPr/>
        </p:nvSpPr>
        <p:spPr>
          <a:xfrm>
            <a:off x="571500" y="4405313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인력 역량 개발 계획 수립</a:t>
            </a:r>
            <a:endParaRPr lang="en-US" sz="1200" dirty="0"/>
          </a:p>
        </p:txBody>
      </p:sp>
      <p:sp>
        <p:nvSpPr>
          <p:cNvPr id="23" name="Text 8"/>
          <p:cNvSpPr/>
          <p:nvPr/>
        </p:nvSpPr>
        <p:spPr>
          <a:xfrm>
            <a:off x="571500" y="4633913"/>
            <a:ext cx="2537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1:1 면담을 통한 팀원 피드백 반영</a:t>
            </a:r>
            <a:endParaRPr lang="en-US" sz="1200" dirty="0"/>
          </a:p>
        </p:txBody>
      </p:sp>
      <p:sp>
        <p:nvSpPr>
          <p:cNvPr id="24" name="Text 9"/>
          <p:cNvSpPr/>
          <p:nvPr/>
        </p:nvSpPr>
        <p:spPr>
          <a:xfrm>
            <a:off x="0" y="5014913"/>
            <a:ext cx="902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가능성</a:t>
            </a:r>
            <a:endParaRPr lang="en-US" sz="1200" dirty="0"/>
          </a:p>
        </p:txBody>
      </p:sp>
      <p:sp>
        <p:nvSpPr>
          <p:cNvPr id="25" name="Text 10"/>
          <p:cNvSpPr/>
          <p:nvPr/>
        </p:nvSpPr>
        <p:spPr>
          <a:xfrm>
            <a:off x="790575" y="5014913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</a:t>
            </a:r>
            <a:endParaRPr lang="en-US" sz="1200" dirty="0"/>
          </a:p>
        </p:txBody>
      </p:sp>
      <p:sp>
        <p:nvSpPr>
          <p:cNvPr id="26" name="Text 11"/>
          <p:cNvSpPr/>
          <p:nvPr/>
        </p:nvSpPr>
        <p:spPr>
          <a:xfrm>
            <a:off x="0" y="6157020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리스크 최소화</a:t>
            </a:r>
            <a:endParaRPr lang="en-US" sz="1800" dirty="0"/>
          </a:p>
        </p:txBody>
      </p:sp>
      <p:sp>
        <p:nvSpPr>
          <p:cNvPr id="27" name="Text 12"/>
          <p:cNvSpPr/>
          <p:nvPr/>
        </p:nvSpPr>
        <p:spPr>
          <a:xfrm>
            <a:off x="571500" y="6680002"/>
            <a:ext cx="1680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 보안 대응력 개선</a:t>
            </a:r>
            <a:endParaRPr lang="en-US" sz="1200" dirty="0"/>
          </a:p>
        </p:txBody>
      </p:sp>
      <p:sp>
        <p:nvSpPr>
          <p:cNvPr id="28" name="Text 13"/>
          <p:cNvSpPr/>
          <p:nvPr/>
        </p:nvSpPr>
        <p:spPr>
          <a:xfrm>
            <a:off x="571500" y="6908602"/>
            <a:ext cx="1680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재인증 준비 체계 강화</a:t>
            </a:r>
            <a:endParaRPr lang="en-US" sz="1200" dirty="0"/>
          </a:p>
        </p:txBody>
      </p:sp>
      <p:sp>
        <p:nvSpPr>
          <p:cNvPr id="29" name="Text 14"/>
          <p:cNvSpPr/>
          <p:nvPr/>
        </p:nvSpPr>
        <p:spPr>
          <a:xfrm>
            <a:off x="0" y="7289602"/>
            <a:ext cx="902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가능성</a:t>
            </a:r>
            <a:endParaRPr lang="en-US" sz="1200" dirty="0"/>
          </a:p>
        </p:txBody>
      </p:sp>
      <p:sp>
        <p:nvSpPr>
          <p:cNvPr id="30" name="Text 15"/>
          <p:cNvSpPr/>
          <p:nvPr/>
        </p:nvSpPr>
        <p:spPr>
          <a:xfrm>
            <a:off x="790575" y="7289602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1200" dirty="0"/>
          </a:p>
        </p:txBody>
      </p:sp>
      <p:sp>
        <p:nvSpPr>
          <p:cNvPr id="31" name="Text 16"/>
          <p:cNvSpPr/>
          <p:nvPr/>
        </p:nvSpPr>
        <p:spPr>
          <a:xfrm>
            <a:off x="11639550" y="7289602"/>
            <a:ext cx="434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 / 10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1922323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25"/>
            <a:ext cx="190500" cy="152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45723"/>
            <a:ext cx="12192000" cy="5143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8836223"/>
            <a:ext cx="152400" cy="152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350573"/>
            <a:ext cx="12192000" cy="5143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9541073"/>
            <a:ext cx="1905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0055423"/>
            <a:ext cx="12192000" cy="5143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500" y="10245923"/>
            <a:ext cx="1905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0760273"/>
            <a:ext cx="12192000" cy="5143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500" y="10950773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11512748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1741348"/>
            <a:ext cx="152400" cy="1524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0" y="432792"/>
            <a:ext cx="12192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Q&amp;A</a:t>
            </a:r>
            <a:endParaRPr lang="en-US" sz="2400" dirty="0"/>
          </a:p>
        </p:txBody>
      </p:sp>
      <p:sp>
        <p:nvSpPr>
          <p:cNvPr id="15" name="Text 1"/>
          <p:cNvSpPr/>
          <p:nvPr/>
        </p:nvSpPr>
        <p:spPr>
          <a:xfrm>
            <a:off x="0" y="8122741"/>
            <a:ext cx="1219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질의응답 시간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381000" y="8788598"/>
            <a:ext cx="1120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체계 관련</a:t>
            </a:r>
            <a:endParaRPr lang="en-US" sz="1200" dirty="0"/>
          </a:p>
        </p:txBody>
      </p:sp>
      <p:sp>
        <p:nvSpPr>
          <p:cNvPr id="17" name="Text 3"/>
          <p:cNvSpPr/>
          <p:nvPr/>
        </p:nvSpPr>
        <p:spPr>
          <a:xfrm>
            <a:off x="419100" y="9493448"/>
            <a:ext cx="1120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관리 관련</a:t>
            </a:r>
            <a:endParaRPr lang="en-US" sz="1200" dirty="0"/>
          </a:p>
        </p:txBody>
      </p:sp>
      <p:sp>
        <p:nvSpPr>
          <p:cNvPr id="18" name="Text 4"/>
          <p:cNvSpPr/>
          <p:nvPr/>
        </p:nvSpPr>
        <p:spPr>
          <a:xfrm>
            <a:off x="419100" y="1019829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프로세스 관련</a:t>
            </a: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381000" y="10903148"/>
            <a:ext cx="1120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전략 관련</a:t>
            </a:r>
            <a:endParaRPr lang="en-US" sz="1200" dirty="0"/>
          </a:p>
        </p:txBody>
      </p:sp>
      <p:sp>
        <p:nvSpPr>
          <p:cNvPr id="20" name="Text 6"/>
          <p:cNvSpPr/>
          <p:nvPr/>
        </p:nvSpPr>
        <p:spPr>
          <a:xfrm>
            <a:off x="190500" y="11465123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security@example.com</a:t>
            </a:r>
            <a:endParaRPr lang="en-US" sz="1200" dirty="0"/>
          </a:p>
        </p:txBody>
      </p:sp>
      <p:sp>
        <p:nvSpPr>
          <p:cNvPr id="21" name="Text 7"/>
          <p:cNvSpPr/>
          <p:nvPr/>
        </p:nvSpPr>
        <p:spPr>
          <a:xfrm>
            <a:off x="190500" y="11693723"/>
            <a:ext cx="845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내선: 1234</a:t>
            </a:r>
            <a:endParaRPr lang="en-US" sz="1200" dirty="0"/>
          </a:p>
        </p:txBody>
      </p:sp>
      <p:sp>
        <p:nvSpPr>
          <p:cNvPr id="22" name="Text 8"/>
          <p:cNvSpPr/>
          <p:nvPr/>
        </p:nvSpPr>
        <p:spPr>
          <a:xfrm>
            <a:off x="11563350" y="11541323"/>
            <a:ext cx="5257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/ 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2025-11-18T13:38:04Z</dcterms:created>
  <dcterms:modified xsi:type="dcterms:W3CDTF">2025-11-18T13:38:04Z</dcterms:modified>
</cp:coreProperties>
</file>